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98" r:id="rId3"/>
    <p:sldId id="282" r:id="rId4"/>
    <p:sldId id="259" r:id="rId5"/>
    <p:sldId id="290" r:id="rId6"/>
    <p:sldId id="301" r:id="rId7"/>
    <p:sldId id="302" r:id="rId8"/>
    <p:sldId id="300" r:id="rId9"/>
    <p:sldId id="285" r:id="rId10"/>
    <p:sldId id="284" r:id="rId11"/>
    <p:sldId id="303" r:id="rId12"/>
    <p:sldId id="296" r:id="rId13"/>
    <p:sldId id="306" r:id="rId14"/>
    <p:sldId id="307" r:id="rId15"/>
    <p:sldId id="281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3883" autoAdjust="0"/>
  </p:normalViewPr>
  <p:slideViewPr>
    <p:cSldViewPr>
      <p:cViewPr varScale="1">
        <p:scale>
          <a:sx n="42" d="100"/>
          <a:sy n="42" d="100"/>
        </p:scale>
        <p:origin x="728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1AE1-4BC9-40DF-9479-6CBFAE4066EE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8B863-5152-4E86-B1A8-D5184ADD9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4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8B863-5152-4E86-B1A8-D5184ADD91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8B863-5152-4E86-B1A8-D5184ADD91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66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8B863-5152-4E86-B1A8-D5184ADD91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1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8B863-5152-4E86-B1A8-D5184ADD91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57400" y="702782"/>
            <a:ext cx="1539240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9600" dirty="0" smtClean="0">
                <a:solidFill>
                  <a:srgbClr val="0F4662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Cormorant Garamond Bold Italics"/>
              </a:rPr>
              <a:t>     </a:t>
            </a:r>
            <a:r>
              <a:rPr lang="en-US" sz="9600" dirty="0" err="1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Cormorant Garamond Bold Italics"/>
              </a:rPr>
              <a:t>SyrianTel</a:t>
            </a:r>
            <a:r>
              <a:rPr lang="en-US" sz="96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Cormorant Garamond Bold Italics"/>
              </a:rPr>
              <a:t> </a:t>
            </a:r>
            <a:r>
              <a:rPr lang="en-US" sz="9600" dirty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Cormorant Garamond Bold Italics"/>
              </a:rPr>
              <a:t>Customer </a:t>
            </a:r>
            <a:r>
              <a:rPr lang="en-US" sz="96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Cormorant Garamond Bold Italics"/>
              </a:rPr>
              <a:t>Churn Analysis</a:t>
            </a:r>
            <a:endParaRPr lang="en-US" sz="9600" dirty="0">
              <a:latin typeface="Arial" panose="020B0604020202020204" pitchFamily="34" charset="0"/>
              <a:ea typeface="Quicksand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61270" y="10287000"/>
            <a:ext cx="1572673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048000" y="4102252"/>
            <a:ext cx="13692306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6600" dirty="0" smtClean="0">
                <a:latin typeface="Nim"/>
                <a:ea typeface="Quicksand"/>
                <a:cs typeface="Quicksand"/>
                <a:sym typeface="Quicksand"/>
              </a:rPr>
              <a:t>   </a:t>
            </a:r>
            <a:r>
              <a:rPr lang="en-US" sz="6600" dirty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(From Data to Retention Strategy)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53126" y="7183604"/>
            <a:ext cx="6981751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4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20 July, </a:t>
            </a:r>
            <a:r>
              <a:rPr lang="en-US" sz="4000" dirty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72200" y="5883926"/>
            <a:ext cx="6781800" cy="594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6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By Erick Mauti</a:t>
            </a:r>
            <a:endParaRPr lang="en-US" sz="6000" dirty="0"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-14288" y="483920"/>
            <a:ext cx="2757488" cy="9803079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12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3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14" name="Group 2"/>
          <p:cNvGrpSpPr/>
          <p:nvPr/>
        </p:nvGrpSpPr>
        <p:grpSpPr>
          <a:xfrm>
            <a:off x="-14288" y="-321937"/>
            <a:ext cx="18302289" cy="643873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6600" y="555539"/>
            <a:ext cx="14720395" cy="184665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000" b="1" dirty="0" smtClean="0">
                <a:solidFill>
                  <a:srgbClr val="C00000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Stopping </a:t>
            </a:r>
            <a:r>
              <a:rPr lang="en-US" sz="6000" b="1" dirty="0">
                <a:solidFill>
                  <a:srgbClr val="C00000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the </a:t>
            </a:r>
            <a:r>
              <a:rPr lang="en-US" sz="6000" b="1" dirty="0" smtClean="0">
                <a:solidFill>
                  <a:srgbClr val="C00000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Leakage Saves $</a:t>
            </a:r>
            <a:r>
              <a:rPr lang="en-US" sz="6000" b="1" dirty="0" smtClean="0">
                <a:solidFill>
                  <a:srgbClr val="C00000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205K/Year </a:t>
            </a:r>
            <a:r>
              <a:rPr lang="en-US" sz="6000" b="1" dirty="0">
                <a:solidFill>
                  <a:srgbClr val="C00000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from </a:t>
            </a:r>
            <a:r>
              <a:rPr lang="en-US" sz="6000" b="1" dirty="0" smtClean="0">
                <a:solidFill>
                  <a:srgbClr val="C00000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Customer Churn</a:t>
            </a:r>
            <a:endParaRPr lang="en-US" sz="6000" b="1" dirty="0">
              <a:solidFill>
                <a:srgbClr val="C00000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2709864" y="10286997"/>
            <a:ext cx="15605756" cy="1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276600" y="2171700"/>
            <a:ext cx="7085154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F4662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1. What is churn?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Customers leaving your service each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month.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Example: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If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100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customers sign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up but 5 leave, you have 5% monthly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churn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</a:t>
            </a:r>
          </a:p>
          <a:p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2. Why 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It Matters: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Like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 leaky bucket - you keep pouring water (acquiring customers) but lose water (revenue) through holes (churn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).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3. Key 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Impact: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High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churn means you're spending more to refill than fixing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leaks.</a:t>
            </a:r>
          </a:p>
          <a:p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4. Cure: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Like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plugging holes in a leaky bucket, our proactive retention model stops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$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205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K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in annual revenue from draining</a:t>
            </a:r>
            <a:r>
              <a:rPr lang="en-US" sz="2800" dirty="0">
                <a:latin typeface="Nim"/>
                <a:ea typeface="Quicksand"/>
                <a:cs typeface="Quicksand"/>
              </a:rPr>
              <a:t>.</a:t>
            </a:r>
          </a:p>
        </p:txBody>
      </p:sp>
      <p:grpSp>
        <p:nvGrpSpPr>
          <p:cNvPr id="11" name="Group 2"/>
          <p:cNvGrpSpPr/>
          <p:nvPr/>
        </p:nvGrpSpPr>
        <p:grpSpPr>
          <a:xfrm>
            <a:off x="0" y="478180"/>
            <a:ext cx="2709864" cy="9808820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12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3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14" name="Group 2"/>
          <p:cNvGrpSpPr/>
          <p:nvPr/>
        </p:nvGrpSpPr>
        <p:grpSpPr>
          <a:xfrm>
            <a:off x="0" y="-345323"/>
            <a:ext cx="18288000" cy="643873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836" y="2627046"/>
            <a:ext cx="7086600" cy="675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1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599" y="1497062"/>
            <a:ext cx="15392399" cy="7448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is losing revenue due to preventable customer churn. To combat this, we aim to proactively identify at-risk subscribers using behavioral patterns and spending tiers, enabling targeted retention strategies to curb attrition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                             </a:t>
            </a:r>
            <a:r>
              <a:rPr lang="en-US" sz="36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Key </a:t>
            </a:r>
            <a:r>
              <a:rPr lang="en-US" sz="36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Business problem question</a:t>
            </a:r>
            <a:endParaRPr lang="en-US" sz="3600" b="1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1. Churn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Quantification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What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percentage of customers leave monthly, and what revenue does this cost us?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Which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 groups (High/Medium/Low spenders) drive the biggest revenue losses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?</a:t>
            </a: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514350" indent="-514350">
              <a:buAutoNum type="arabicPeriod" startAt="2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Root Causes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What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behavioral patterns precede churn (e.g.,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international plan usage, frequent support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calls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)?</a:t>
            </a:r>
          </a:p>
          <a:p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3.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Proactive Prevention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Can we flag at-risk customers at least 30 days before they churn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?</a:t>
            </a: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W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hat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measurable thresholds (e.g., 4+ service calls/month) should automatically trigger retention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efforts?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How much revenue could we save by acting on these alerts?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2705099" y="10324451"/>
            <a:ext cx="15582899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19800" y="449596"/>
            <a:ext cx="9220199" cy="1040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Quicksand"/>
              </a:rPr>
              <a:t>Problem Statement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Quicksand"/>
            </a:endParaRPr>
          </a:p>
        </p:txBody>
      </p:sp>
      <p:grpSp>
        <p:nvGrpSpPr>
          <p:cNvPr id="8" name="Group 2"/>
          <p:cNvGrpSpPr/>
          <p:nvPr/>
        </p:nvGrpSpPr>
        <p:grpSpPr>
          <a:xfrm>
            <a:off x="0" y="287590"/>
            <a:ext cx="2727960" cy="10036861"/>
            <a:chOff x="0" y="-47625"/>
            <a:chExt cx="1104621" cy="2752784"/>
          </a:xfrm>
          <a:blipFill>
            <a:blip r:embed="rId2"/>
            <a:tile tx="0" ty="0" sx="100000" sy="100000" flip="none" algn="tl"/>
          </a:blipFill>
        </p:grpSpPr>
        <p:sp>
          <p:nvSpPr>
            <p:cNvPr id="9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0" name="TextBox 4"/>
            <p:cNvSpPr txBox="1"/>
            <p:nvPr/>
          </p:nvSpPr>
          <p:spPr>
            <a:xfrm>
              <a:off x="0" y="-47625"/>
              <a:ext cx="1104621" cy="273186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11" name="Group 2"/>
          <p:cNvGrpSpPr/>
          <p:nvPr/>
        </p:nvGrpSpPr>
        <p:grpSpPr>
          <a:xfrm>
            <a:off x="0" y="-309696"/>
            <a:ext cx="18306098" cy="597286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12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3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790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75673"/>
            <a:ext cx="2727960" cy="9811327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553199" y="419100"/>
            <a:ext cx="7162801" cy="1040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Dataset Overview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43202" y="1485901"/>
            <a:ext cx="15544798" cy="12226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8983" lvl="1"/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 Bold"/>
              </a:rPr>
              <a:t>Source: </a:t>
            </a:r>
            <a:endParaRPr lang="en-US" sz="2800" b="1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 Bold"/>
            </a:endParaRPr>
          </a:p>
          <a:p>
            <a:pPr marL="856183" lvl="1" indent="-45720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SyriaTel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 Churn dataset (</a:t>
            </a:r>
            <a:r>
              <a:rPr lang="en-US" sz="2800" dirty="0" err="1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Kaggle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</a:t>
            </a:r>
          </a:p>
          <a:p>
            <a:pPr marL="398983" lvl="1"/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Scope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:</a:t>
            </a:r>
          </a:p>
          <a:p>
            <a:pPr marL="856183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3,333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customers 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(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records)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856183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21 features covering:</a:t>
            </a:r>
          </a:p>
          <a:p>
            <a:pPr marL="1770583" lvl="3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State, phone number, international plan,  voice mail plan </a:t>
            </a:r>
            <a:r>
              <a:rPr lang="en-US" sz="2800" dirty="0" err="1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etc</a:t>
            </a: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1313383" lvl="3"/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                    </a:t>
            </a:r>
          </a:p>
          <a:p>
            <a:pPr marL="1313383" lvl="3"/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                       Snapshot 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of the 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dataset</a:t>
            </a:r>
          </a:p>
          <a:p>
            <a:pPr marL="1313383" lvl="3"/>
            <a:endParaRPr lang="en-US" sz="2800" b="1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313383" lvl="3"/>
            <a:endParaRPr lang="en-US" sz="2800" b="1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770583" lvl="3" indent="-457200">
              <a:buFont typeface="Arial" panose="020B0604020202020204" pitchFamily="34" charset="0"/>
              <a:buChar char="•"/>
            </a:pPr>
            <a:endParaRPr lang="en-US" sz="2800" b="1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770583" lvl="3" indent="-457200">
              <a:buFont typeface="Arial" panose="020B0604020202020204" pitchFamily="34" charset="0"/>
              <a:buChar char="•"/>
            </a:pPr>
            <a:endParaRPr lang="en-US" sz="2800" b="1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770583" lvl="3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313383" lvl="3"/>
            <a:endParaRPr lang="en-US" sz="2800" b="1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770583" lvl="3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1770583" lvl="3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/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Purpose:</a:t>
            </a:r>
          </a:p>
          <a:p>
            <a:pPr marL="856183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Predict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churn to reduce revenue loss 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($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205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k/year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attributed to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churn).</a:t>
            </a:r>
          </a:p>
          <a:p>
            <a:pPr marL="398983" lvl="1"/>
            <a:endParaRPr lang="en-US" sz="2800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>
              <a:lnSpc>
                <a:spcPts val="6283"/>
              </a:lnSpc>
            </a:pPr>
            <a:endParaRPr lang="en-US" sz="3200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3200" b="1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3200" b="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3200" dirty="0" smtClean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2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2"/>
          <p:cNvGrpSpPr/>
          <p:nvPr/>
        </p:nvGrpSpPr>
        <p:grpSpPr>
          <a:xfrm>
            <a:off x="-15240" y="-252460"/>
            <a:ext cx="18288000" cy="597286"/>
            <a:chOff x="0" y="0"/>
            <a:chExt cx="1104621" cy="270515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982000"/>
            <a:ext cx="13319759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8083"/>
            <a:ext cx="2727960" cy="9768917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29400" y="696766"/>
            <a:ext cx="5715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6000" b="1" i="1" dirty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Key </a:t>
            </a: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202" y="1620096"/>
            <a:ext cx="15392397" cy="10179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8983" lvl="1">
              <a:lnSpc>
                <a:spcPct val="150000"/>
              </a:lnSpc>
            </a:pPr>
            <a:r>
              <a:rPr lang="en-US" sz="2800" b="1" dirty="0" smtClean="0">
                <a:latin typeface="Nim"/>
                <a:ea typeface="Quicksand"/>
                <a:cs typeface="Quicksand"/>
              </a:rPr>
              <a:t>1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 Revenue 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Impact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14.5%  Churn =  15.9%  Revenue Erosion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The 1.4% difference implies that the organization breeds high valued customers</a:t>
            </a:r>
          </a:p>
          <a:p>
            <a:pPr marL="0" lvl="1"/>
            <a:r>
              <a:rPr lang="en-US" sz="2800" b="1" dirty="0" smtClean="0">
                <a:solidFill>
                  <a:srgbClr val="0F4662"/>
                </a:solidFill>
                <a:latin typeface="Quicksand" panose="020B0604020202020204" charset="0"/>
                <a:ea typeface="Quicksand"/>
                <a:cs typeface="Quicksand"/>
              </a:rPr>
              <a:t>     </a:t>
            </a: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27960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2"/>
          <p:cNvGrpSpPr/>
          <p:nvPr/>
        </p:nvGrpSpPr>
        <p:grpSpPr>
          <a:xfrm>
            <a:off x="0" y="-191352"/>
            <a:ext cx="18288000" cy="597286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080" y="3848100"/>
            <a:ext cx="6629400" cy="60029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848100"/>
            <a:ext cx="5547360" cy="598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0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0524"/>
            <a:ext cx="2727960" cy="9651194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781800" y="696766"/>
            <a:ext cx="55626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sz="6000" b="1" i="1" dirty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Key </a:t>
            </a: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202" y="1620096"/>
            <a:ext cx="15392397" cy="10179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8983" lvl="1">
              <a:lnSpc>
                <a:spcPct val="150000"/>
              </a:lnSpc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 High-Risk Plan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The highest risk group is international plan-only customers(43.7% of its customers churn)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Voice mail plan on international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calls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reduce churn by 10.5%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2800" b="1" dirty="0" smtClean="0">
                <a:solidFill>
                  <a:srgbClr val="0F4662"/>
                </a:solidFill>
                <a:latin typeface="Quicksand" panose="020B0604020202020204" charset="0"/>
                <a:ea typeface="Quicksand"/>
                <a:cs typeface="Quicksand"/>
              </a:rPr>
              <a:t>     </a:t>
            </a: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2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2"/>
          <p:cNvGrpSpPr/>
          <p:nvPr/>
        </p:nvGrpSpPr>
        <p:grpSpPr>
          <a:xfrm>
            <a:off x="0" y="-93292"/>
            <a:ext cx="18288000" cy="597286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695700"/>
            <a:ext cx="14678025" cy="619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5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68592"/>
            <a:ext cx="2727960" cy="9718407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29400" y="696766"/>
            <a:ext cx="5715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Key Findings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202" y="1620096"/>
            <a:ext cx="15392397" cy="10179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3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 Behavioral Insight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High-Spenders ($70+ monthly charges) Churn 5X Faster than moderate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spenders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High-Spenders erode 54.3% of lost revenue to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churn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0" lvl="1"/>
            <a:r>
              <a:rPr lang="en-US" sz="2800" b="1" dirty="0" smtClean="0">
                <a:solidFill>
                  <a:srgbClr val="0F4662"/>
                </a:solidFill>
                <a:latin typeface="Quicksand" panose="020B0604020202020204" charset="0"/>
                <a:ea typeface="Quicksand"/>
                <a:cs typeface="Quicksand"/>
              </a:rPr>
              <a:t>     </a:t>
            </a: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27960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2"/>
          <p:cNvGrpSpPr/>
          <p:nvPr/>
        </p:nvGrpSpPr>
        <p:grpSpPr>
          <a:xfrm>
            <a:off x="0" y="-127021"/>
            <a:ext cx="18288000" cy="597286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3695700"/>
            <a:ext cx="143256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2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12946"/>
            <a:ext cx="2727960" cy="9704534"/>
            <a:chOff x="0" y="0"/>
            <a:chExt cx="1104621" cy="2705159"/>
          </a:xfrm>
          <a:blipFill>
            <a:blip r:embed="rId3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705600" y="696766"/>
            <a:ext cx="5638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6000" b="1" i="1" dirty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Key </a:t>
            </a: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202" y="1620096"/>
            <a:ext cx="15392397" cy="9748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4. Customer Service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Customers who make more than 4 calls have more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than 50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%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churn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Customers with more than 8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calls churn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at 100%</a:t>
            </a:r>
          </a:p>
          <a:p>
            <a:pPr marL="0" lvl="1"/>
            <a:r>
              <a:rPr lang="en-US" sz="2800" b="1" dirty="0" smtClean="0">
                <a:solidFill>
                  <a:srgbClr val="0F4662"/>
                </a:solidFill>
                <a:latin typeface="Quicksand" panose="020B0604020202020204" charset="0"/>
                <a:ea typeface="Quicksand"/>
                <a:cs typeface="Quicksand"/>
              </a:rPr>
              <a:t>     </a:t>
            </a: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0" lvl="1"/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2800" b="1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2800" dirty="0" smtClean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2800" dirty="0">
              <a:solidFill>
                <a:srgbClr val="0F4662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27960" y="1031748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2"/>
          <p:cNvGrpSpPr/>
          <p:nvPr/>
        </p:nvGrpSpPr>
        <p:grpSpPr>
          <a:xfrm>
            <a:off x="0" y="-141855"/>
            <a:ext cx="18303248" cy="607800"/>
            <a:chOff x="0" y="-47619"/>
            <a:chExt cx="1105542" cy="2752778"/>
          </a:xfrm>
          <a:blipFill>
            <a:blip r:embed="rId3"/>
            <a:tile tx="0" ty="0" sx="100000" sy="100000" flip="none" algn="tl"/>
          </a:blip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19"/>
              <a:ext cx="1105542" cy="27173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3695700"/>
            <a:ext cx="14325600" cy="608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4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486072"/>
            <a:ext cx="2727960" cy="9800927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96000" y="264510"/>
            <a:ext cx="7409043" cy="1040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Data Preprocessing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18435" y="1316737"/>
            <a:ext cx="15544797" cy="900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3333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Loading data and General inspection: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V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iew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features, data type, missing values, duplicates and statistical summary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</a:t>
            </a:r>
            <a:endParaRPr lang="en-US" sz="2800" b="1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398983" lvl="1">
              <a:lnSpc>
                <a:spcPct val="150000"/>
              </a:lnSpc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2. Cleaning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Transformed features into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standard naming(snake casing)</a:t>
            </a:r>
          </a:p>
          <a:p>
            <a:pPr marL="398983" lvl="1">
              <a:lnSpc>
                <a:spcPct val="150000"/>
              </a:lnSpc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2. 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Feature Engineering</a:t>
            </a: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Created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‘Revenue’ and ‘Spender-type’ columns</a:t>
            </a: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Dropped irrelevant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columns like phone-number</a:t>
            </a: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398983" lvl="1">
              <a:lnSpc>
                <a:spcPct val="150000"/>
              </a:lnSpc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3. 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Encoding</a:t>
            </a:r>
            <a:endParaRPr lang="en-US" sz="2800" b="1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One-hot encoding 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applied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to categorical columns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85618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Ordinal encoding on ordinal columns like churn 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endParaRPr lang="en-US" sz="3200" dirty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/>
            <a:endParaRPr lang="en-US" sz="3200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/>
            <a:endParaRPr lang="en-US" sz="3200" b="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 Bold"/>
            </a:endParaRPr>
          </a:p>
          <a:p>
            <a:pPr marL="398983" lvl="1" algn="l"/>
            <a:endParaRPr lang="en-US" sz="3200" dirty="0" smtClean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/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18435" y="10329862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2"/>
          <p:cNvGrpSpPr/>
          <p:nvPr/>
        </p:nvGrpSpPr>
        <p:grpSpPr>
          <a:xfrm>
            <a:off x="-9525" y="-190500"/>
            <a:ext cx="18288000" cy="510185"/>
            <a:chOff x="0" y="0"/>
            <a:chExt cx="1104621" cy="270515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3333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573" y="723900"/>
            <a:ext cx="2727960" cy="9563100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4600" y="541564"/>
            <a:ext cx="7409043" cy="1040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Model Building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04147" y="1582362"/>
            <a:ext cx="15544797" cy="11310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6283"/>
              </a:lnSpc>
            </a:pPr>
            <a:r>
              <a:rPr lang="en-US" sz="3200" dirty="0" smtClean="0">
                <a:solidFill>
                  <a:srgbClr val="0F4662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Algorithms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ested:</a:t>
            </a: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Logistic regression</a:t>
            </a: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Random forest</a:t>
            </a: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XGBoost</a:t>
            </a:r>
            <a:endParaRPr lang="en-US" sz="28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lvl="2">
              <a:lnSpc>
                <a:spcPts val="6283"/>
              </a:lnSpc>
            </a:pPr>
            <a:r>
              <a:rPr lang="en-US" sz="2800" b="1" dirty="0" err="1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Evalution</a:t>
            </a: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metrics:</a:t>
            </a: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Recall – Focuses on predicting at-risk customers</a:t>
            </a: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Precision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–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Focuses on reducing false negative</a:t>
            </a: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ROC-AUC – Evaluates model performance</a:t>
            </a:r>
          </a:p>
          <a:p>
            <a:pPr lvl="1">
              <a:lnSpc>
                <a:spcPts val="6283"/>
              </a:lnSpc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Model for deployment</a:t>
            </a:r>
            <a:endParaRPr lang="en-US" sz="2800" b="1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914400" lvl="1" indent="-457200">
              <a:lnSpc>
                <a:spcPts val="6283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Stratified Random Forest performs well(77%)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398983" lvl="1">
              <a:lnSpc>
                <a:spcPts val="6283"/>
              </a:lnSpc>
            </a:pPr>
            <a:endParaRPr lang="en-US" sz="3200" b="1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3200" b="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3200" dirty="0" smtClean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1" y="1025652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2"/>
          <p:cNvGrpSpPr/>
          <p:nvPr/>
        </p:nvGrpSpPr>
        <p:grpSpPr>
          <a:xfrm>
            <a:off x="0" y="-48102"/>
            <a:ext cx="18288000" cy="597286"/>
            <a:chOff x="0" y="0"/>
            <a:chExt cx="1104621" cy="270515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6908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67830"/>
            <a:ext cx="2727960" cy="9688690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274593" y="634112"/>
            <a:ext cx="8458200" cy="1040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Model Performance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43202" y="1732383"/>
            <a:ext cx="15544797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8983" lvl="1">
              <a:lnSpc>
                <a:spcPts val="6283"/>
              </a:lnSpc>
            </a:pPr>
            <a:endParaRPr lang="en-US" sz="3200" b="1" dirty="0" smtClean="0">
              <a:solidFill>
                <a:srgbClr val="0F4662"/>
              </a:solidFill>
              <a:latin typeface="Quicksand"/>
              <a:ea typeface="Quicksand"/>
              <a:cs typeface="Quicksand"/>
            </a:endParaRPr>
          </a:p>
          <a:p>
            <a:pPr marL="398983" lvl="1">
              <a:lnSpc>
                <a:spcPts val="6283"/>
              </a:lnSpc>
            </a:pPr>
            <a:endParaRPr lang="en-US" sz="3200" b="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 Bold"/>
            </a:endParaRPr>
          </a:p>
          <a:p>
            <a:pPr marL="398983" lvl="1" algn="l">
              <a:lnSpc>
                <a:spcPts val="6283"/>
              </a:lnSpc>
            </a:pPr>
            <a:endParaRPr lang="en-US" sz="3200" dirty="0" smtClean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>
              <a:lnSpc>
                <a:spcPts val="6283"/>
              </a:lnSpc>
            </a:pPr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1" y="1025652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2"/>
          <p:cNvGrpSpPr/>
          <p:nvPr/>
        </p:nvGrpSpPr>
        <p:grpSpPr>
          <a:xfrm>
            <a:off x="0" y="-200765"/>
            <a:ext cx="18288000" cy="597286"/>
            <a:chOff x="0" y="0"/>
            <a:chExt cx="1104621" cy="270515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50457"/>
              </p:ext>
            </p:extLst>
          </p:nvPr>
        </p:nvGraphicFramePr>
        <p:xfrm>
          <a:off x="3124200" y="1846004"/>
          <a:ext cx="9906000" cy="7318891"/>
        </p:xfrm>
        <a:graphic>
          <a:graphicData uri="http://schemas.openxmlformats.org/drawingml/2006/table">
            <a:tbl>
              <a:tblPr/>
              <a:tblGrid>
                <a:gridCol w="6925432">
                  <a:extLst>
                    <a:ext uri="{9D8B030D-6E8A-4147-A177-3AD203B41FA5}">
                      <a16:colId xmlns:a16="http://schemas.microsoft.com/office/drawing/2014/main" val="509487531"/>
                    </a:ext>
                  </a:extLst>
                </a:gridCol>
                <a:gridCol w="2980568">
                  <a:extLst>
                    <a:ext uri="{9D8B030D-6E8A-4147-A177-3AD203B41FA5}">
                      <a16:colId xmlns:a16="http://schemas.microsoft.com/office/drawing/2014/main" val="682130751"/>
                    </a:ext>
                  </a:extLst>
                </a:gridCol>
              </a:tblGrid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Before </a:t>
                      </a:r>
                      <a:r>
                        <a:rPr lang="en-US" sz="2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Model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Position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05060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Total customers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3,333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97139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Churned Customers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483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061497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Total Revenue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198,146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917365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Churned Revenue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31,505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863798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220135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Model Projections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Position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06188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Customers Retained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372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98064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Amount Recovered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 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24,266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537536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Cost of Recovery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7,200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596599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Net Revenue Recovered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17,066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257886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1157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New</a:t>
                      </a:r>
                      <a:r>
                        <a:rPr lang="en-US" sz="2800" b="1" i="0" u="none" strike="noStrike" baseline="0" dirty="0" smtClean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 look (</a:t>
                      </a:r>
                      <a:r>
                        <a:rPr lang="en-US" sz="2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 </a:t>
                      </a:r>
                      <a:r>
                        <a:rPr lang="en-US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After  </a:t>
                      </a:r>
                      <a:r>
                        <a:rPr lang="en-US" sz="2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Retention)</a:t>
                      </a:r>
                      <a:endParaRPr lang="en-US" sz="2800" b="1" i="0" u="none" strike="noStrike" dirty="0">
                        <a:solidFill>
                          <a:srgbClr val="FFFFFF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Nim"/>
                        </a:rPr>
                        <a:t>Position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73414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Total customers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3,333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455781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Churned Customers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108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73051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Total Revenue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198,146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372002"/>
                  </a:ext>
                </a:extLst>
              </a:tr>
              <a:tr h="389302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Churned Revenue</a:t>
                      </a: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m"/>
                        </a:rPr>
                        <a:t>7,239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Nim"/>
                      </a:endParaRPr>
                    </a:p>
                  </a:txBody>
                  <a:tcPr marL="3803" marR="3803" marT="3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0775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435013" y="1573365"/>
            <a:ext cx="4700587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model retained 372 customers out of 483 who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churned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Stopped $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205K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per year revenue loss.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ROI on retention plan is 2.4X. Implies that, in every $1 invested in the model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retains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$2.4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Amount still at risk $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7,239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model is able to capture 77 out of 100 churning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</a:p>
          <a:p>
            <a:endParaRPr lang="en-US" sz="2800" dirty="0">
              <a:latin typeface="Nim"/>
            </a:endParaRPr>
          </a:p>
        </p:txBody>
      </p:sp>
    </p:spTree>
    <p:extLst>
      <p:ext uri="{BB962C8B-B14F-4D97-AF65-F5344CB8AC3E}">
        <p14:creationId xmlns:p14="http://schemas.microsoft.com/office/powerpoint/2010/main" val="132309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1" y="182454"/>
            <a:ext cx="2743202" cy="10104545"/>
            <a:chOff x="-6172" y="-40643"/>
            <a:chExt cx="1110793" cy="2752784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-6172" y="-40643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27319" y="174834"/>
            <a:ext cx="10530838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Business Recommendation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33600" y="1104900"/>
            <a:ext cx="16139158" cy="1046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Immediate 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Priority: Protect High-Value Revenue (0–30 Days)</a:t>
            </a:r>
          </a:p>
          <a:p>
            <a:pPr lvl="2">
              <a:lnSpc>
                <a:spcPct val="150000"/>
              </a:lnSpc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A. Target 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High-Spenders ($70+/Month) – 54% of Lost </a:t>
            </a: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Revenue</a:t>
            </a:r>
          </a:p>
          <a:p>
            <a:pPr marL="1428750" lvl="2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Action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: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Assign dedicated account managers to high-spenders for proactive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support.</a:t>
            </a:r>
          </a:p>
          <a:p>
            <a:pPr marL="1428750" lvl="2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Justification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: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Losing just 50 high-spenders 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costs a minimum of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$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3,500/month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($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70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/churner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).</a:t>
            </a:r>
          </a:p>
          <a:p>
            <a:pPr marL="1428750" lvl="2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Retention 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Offer: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Personalized discounts (≤$15/customer) to preserve margin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.</a:t>
            </a:r>
          </a:p>
          <a:p>
            <a:pPr lvl="2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B. Deploy Random Forest Model (77% Recall)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Action: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Automatically flag customers with ≥30% churn risk (0.23 threshold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).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Key 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Triggers</a:t>
            </a: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≥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4 service calls/month (top churn predictor).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International 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plan users (3× higher churn risk).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&gt;40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% spending drop (early warning sign).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</a:t>
            </a:r>
          </a:p>
          <a:p>
            <a:pPr lvl="2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2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3"/>
          <p:cNvSpPr/>
          <p:nvPr/>
        </p:nvSpPr>
        <p:spPr>
          <a:xfrm>
            <a:off x="-15239" y="-379774"/>
            <a:ext cx="18287997" cy="633364"/>
          </a:xfrm>
          <a:custGeom>
            <a:avLst/>
            <a:gdLst/>
            <a:ahLst/>
            <a:cxnLst/>
            <a:rect l="l" t="t" r="r" b="b"/>
            <a:pathLst>
              <a:path w="1104621" h="2705159">
                <a:moveTo>
                  <a:pt x="0" y="0"/>
                </a:moveTo>
                <a:lnTo>
                  <a:pt x="1104621" y="0"/>
                </a:lnTo>
                <a:lnTo>
                  <a:pt x="1104621" y="2705159"/>
                </a:lnTo>
                <a:lnTo>
                  <a:pt x="0" y="2705159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1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1" y="182454"/>
            <a:ext cx="2743202" cy="10104545"/>
            <a:chOff x="-6172" y="-40643"/>
            <a:chExt cx="1110793" cy="2752784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-6172" y="-40643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27319" y="366139"/>
            <a:ext cx="10530838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Business Recommendation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79322" y="1554799"/>
            <a:ext cx="16139158" cy="7971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>
              <a:lnSpc>
                <a:spcPct val="200000"/>
              </a:lnSpc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2. Short-Term Fixes: Eliminate Churn Triggers (1–3 Months)</a:t>
            </a:r>
          </a:p>
          <a:p>
            <a:pPr lvl="2">
              <a:lnSpc>
                <a:spcPct val="200000"/>
              </a:lnSpc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A. Improve Network &amp; Customer Service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Fix Complaints: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Audit top 10 high-churn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states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for network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gaps</a:t>
            </a:r>
            <a:endParaRPr lang="en-US" sz="3000" dirty="0" smtClean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Competitive </a:t>
            </a: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Pricing: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Benchmark against rivals in high-attrition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regions</a:t>
            </a:r>
            <a:endParaRPr lang="en-US" sz="30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lvl="2">
              <a:lnSpc>
                <a:spcPct val="200000"/>
              </a:lnSpc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B. Introduce International Voicemail Plan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Why?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International users churn 3× faster than domestic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users</a:t>
            </a:r>
            <a:endParaRPr lang="en-US" sz="30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Action: 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Bundle free voicemail to reduce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friction</a:t>
            </a:r>
            <a:endParaRPr lang="en-US" sz="30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 </a:t>
            </a:r>
          </a:p>
          <a:p>
            <a:pPr lvl="2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2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3"/>
          <p:cNvSpPr/>
          <p:nvPr/>
        </p:nvSpPr>
        <p:spPr>
          <a:xfrm>
            <a:off x="-15239" y="-379774"/>
            <a:ext cx="18287997" cy="633364"/>
          </a:xfrm>
          <a:custGeom>
            <a:avLst/>
            <a:gdLst/>
            <a:ahLst/>
            <a:cxnLst/>
            <a:rect l="l" t="t" r="r" b="b"/>
            <a:pathLst>
              <a:path w="1104621" h="2705159">
                <a:moveTo>
                  <a:pt x="0" y="0"/>
                </a:moveTo>
                <a:lnTo>
                  <a:pt x="1104621" y="0"/>
                </a:lnTo>
                <a:lnTo>
                  <a:pt x="1104621" y="2705159"/>
                </a:lnTo>
                <a:lnTo>
                  <a:pt x="0" y="2705159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3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241" y="182454"/>
            <a:ext cx="2743202" cy="10104545"/>
            <a:chOff x="-6172" y="-40643"/>
            <a:chExt cx="1110793" cy="2752784"/>
          </a:xfrm>
          <a:blipFill>
            <a:blip r:embed="rId2"/>
            <a:tile tx="0" ty="0" sx="100000" sy="100000" flip="none" algn="tl"/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-6172" y="-40643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27319" y="174834"/>
            <a:ext cx="10530838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Business Recommendation</a:t>
            </a:r>
            <a:endParaRPr lang="en-US" sz="6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53642" y="1138876"/>
            <a:ext cx="15834358" cy="9710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3. </a:t>
            </a:r>
            <a:r>
              <a:rPr lang="en-US" sz="36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Long-Term System: Proactive Retention (3–6 Months)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A. Customer Health Dashboard</a:t>
            </a: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Real-Time Alerts: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High 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Risk: 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 X (4+ calls, 65% churn probability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Spending </a:t>
            </a: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Drop: 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Customer Y (45% reduction, investigate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B. Reduce False Positives</a:t>
            </a: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Rule: 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Only act on 40–70% churn risk (balances recall &amp; cost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</a:t>
            </a:r>
            <a:endParaRPr lang="en-US" sz="2800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Low-Cost Tactics: </a:t>
            </a:r>
            <a:r>
              <a:rPr lang="en-US" sz="28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Automated emails for 30–40% </a:t>
            </a:r>
            <a:r>
              <a:rPr lang="en-US" sz="28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risk</a:t>
            </a:r>
          </a:p>
          <a:p>
            <a:pPr lvl="2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                                 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6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What Next?</a:t>
            </a:r>
            <a:endParaRPr lang="en-US" sz="6000" b="1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342900" lvl="2"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    </a:t>
            </a:r>
            <a:r>
              <a:rPr lang="en-US" sz="36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Pilot </a:t>
            </a:r>
            <a:r>
              <a:rPr lang="en-US" sz="3600" b="1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Phase (Month 1-2</a:t>
            </a:r>
            <a:r>
              <a:rPr lang="en-US" sz="36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)</a:t>
            </a:r>
            <a:endParaRPr lang="en-US" sz="3600" b="1" dirty="0">
              <a:latin typeface="Arial" panose="020B0604020202020204" pitchFamily="34" charset="0"/>
              <a:ea typeface="Quicksand"/>
              <a:cs typeface="Arial" panose="020B0604020202020204" pitchFamily="34" charset="0"/>
            </a:endParaRPr>
          </a:p>
          <a:p>
            <a:pPr marL="342900" lvl="2">
              <a:lnSpc>
                <a:spcPct val="150000"/>
              </a:lnSpc>
            </a:pPr>
            <a:r>
              <a:rPr lang="en-US" sz="30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     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Target 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top 20% highest-risk customers</a:t>
            </a:r>
          </a:p>
          <a:p>
            <a:pPr lvl="2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r>
              <a:rPr lang="en-US" sz="3000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 Validate </a:t>
            </a:r>
            <a:r>
              <a:rPr lang="en-US" sz="3000" dirty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savings with controlled campaigns</a:t>
            </a:r>
          </a:p>
          <a:p>
            <a:pPr lvl="2"/>
            <a:r>
              <a:rPr lang="en-US" sz="2800" b="1" dirty="0" smtClean="0">
                <a:latin typeface="Arial" panose="020B0604020202020204" pitchFamily="34" charset="0"/>
                <a:ea typeface="Quicksand"/>
                <a:cs typeface="Arial" panose="020B0604020202020204" pitchFamily="34" charset="0"/>
              </a:rPr>
              <a:t> </a:t>
            </a:r>
            <a:endParaRPr lang="en-US" sz="3695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" name="AutoShape 4"/>
          <p:cNvSpPr/>
          <p:nvPr/>
        </p:nvSpPr>
        <p:spPr>
          <a:xfrm flipV="1">
            <a:off x="2743202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3"/>
          <p:cNvSpPr/>
          <p:nvPr/>
        </p:nvSpPr>
        <p:spPr>
          <a:xfrm>
            <a:off x="-15239" y="-379774"/>
            <a:ext cx="18287997" cy="633364"/>
          </a:xfrm>
          <a:custGeom>
            <a:avLst/>
            <a:gdLst/>
            <a:ahLst/>
            <a:cxnLst/>
            <a:rect l="l" t="t" r="r" b="b"/>
            <a:pathLst>
              <a:path w="1104621" h="2705159">
                <a:moveTo>
                  <a:pt x="0" y="0"/>
                </a:moveTo>
                <a:lnTo>
                  <a:pt x="1104621" y="0"/>
                </a:lnTo>
                <a:lnTo>
                  <a:pt x="1104621" y="2705159"/>
                </a:lnTo>
                <a:lnTo>
                  <a:pt x="0" y="2705159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2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1400" y="2019300"/>
            <a:ext cx="11402580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2000" b="1" i="1" dirty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Thank </a:t>
            </a:r>
            <a:r>
              <a:rPr lang="en-US" sz="12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you</a:t>
            </a:r>
          </a:p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2000" b="1" i="1" dirty="0" smtClean="0">
                <a:latin typeface="Arial" panose="020B0604020202020204" pitchFamily="34" charset="0"/>
                <a:ea typeface="Cormorant Garamond Bold Italics"/>
                <a:cs typeface="Arial" panose="020B0604020202020204" pitchFamily="34" charset="0"/>
                <a:sym typeface="Cormorant Garamond Bold Italics"/>
              </a:rPr>
              <a:t>Q &amp; A</a:t>
            </a:r>
            <a:endParaRPr lang="en-US" sz="12000" b="1" i="1" dirty="0">
              <a:latin typeface="Arial" panose="020B0604020202020204" pitchFamily="34" charset="0"/>
              <a:ea typeface="Cormorant Garamond Bold Italics"/>
              <a:cs typeface="Arial" panose="020B0604020202020204" pitchFamily="34" charset="0"/>
              <a:sym typeface="Cormorant Garamond Bold Italics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2743202" y="10287000"/>
            <a:ext cx="15544798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2"/>
          <p:cNvGrpSpPr/>
          <p:nvPr/>
        </p:nvGrpSpPr>
        <p:grpSpPr>
          <a:xfrm>
            <a:off x="-15238" y="316778"/>
            <a:ext cx="2727960" cy="9970222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8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10" name="Group 2"/>
          <p:cNvGrpSpPr/>
          <p:nvPr/>
        </p:nvGrpSpPr>
        <p:grpSpPr>
          <a:xfrm>
            <a:off x="-15238" y="-298643"/>
            <a:ext cx="18288000" cy="597286"/>
            <a:chOff x="0" y="0"/>
            <a:chExt cx="1104621" cy="2705159"/>
          </a:xfrm>
          <a:blipFill>
            <a:blip r:embed="rId2"/>
            <a:tile tx="0" ty="0" sx="100000" sy="100000" flip="none" algn="tl"/>
          </a:blipFill>
        </p:grpSpPr>
        <p:sp>
          <p:nvSpPr>
            <p:cNvPr id="11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12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2703</TotalTime>
  <Words>1009</Words>
  <Application>Microsoft Office PowerPoint</Application>
  <PresentationFormat>Custom</PresentationFormat>
  <Paragraphs>223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Cormorant Garamond Bold Italics</vt:lpstr>
      <vt:lpstr>Quicksand Bold</vt:lpstr>
      <vt:lpstr>Quicksand</vt:lpstr>
      <vt:lpstr>Wingdings</vt:lpstr>
      <vt:lpstr>Nim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dc:creator>Erick Mauti</dc:creator>
  <cp:lastModifiedBy>Erick Mauti</cp:lastModifiedBy>
  <cp:revision>110</cp:revision>
  <dcterms:created xsi:type="dcterms:W3CDTF">2006-08-16T00:00:00Z</dcterms:created>
  <dcterms:modified xsi:type="dcterms:W3CDTF">2025-07-22T19:58:58Z</dcterms:modified>
  <dc:identifier>DAGp4jgJFxc</dc:identifier>
</cp:coreProperties>
</file>